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260A16F-BF3A-4957-B8AF-A7777980C04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960096F-327B-4106-8E44-D8C1449EF67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252E8FD-576F-43B6-88BC-B7D22C04B2A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79BA2CA-8E13-4C59-A6C4-CDB01EA06B5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46EA75F-F1AB-4306-836A-DDA5438C27A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62147FF-83BA-4C5F-A43F-0FCF419C9FD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F381B14-33D3-472A-A380-79AC9A74933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36B8554-5B10-475A-B27A-334D9222104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CC63C64-71C9-4FFA-B8C5-93B4B1F6C07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C83431D-0837-4877-B861-6B4674DAE8C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885B5A6-A135-4133-9DD0-7954048FDE0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5028840" cy="6857640"/>
          </a:xfrm>
          <a:prstGeom prst="rect">
            <a:avLst/>
          </a:prstGeom>
          <a:solidFill>
            <a:srgbClr val="0478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ectangle 2"/>
          <p:cNvSpPr/>
          <p:nvPr/>
        </p:nvSpPr>
        <p:spPr>
          <a:xfrm>
            <a:off x="3657600" y="0"/>
            <a:ext cx="2285640" cy="685764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5943600" y="1371600"/>
            <a:ext cx="54860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Nepal360</a:t>
            </a:r>
            <a:endParaRPr lang="en-US" sz="6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5943600" y="256032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Empowering Change Across Nepal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Rectangle 5"/>
          <p:cNvSpPr/>
          <p:nvPr/>
        </p:nvSpPr>
        <p:spPr>
          <a:xfrm>
            <a:off x="5943600" y="3291840"/>
            <a:ext cx="2742840" cy="3636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5943600" y="3566160"/>
            <a:ext cx="54860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Presented by Nischal Bhattarai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7"/>
          <p:cNvSpPr/>
          <p:nvPr/>
        </p:nvSpPr>
        <p:spPr>
          <a:xfrm>
            <a:off x="5943600" y="402336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Full-Stack Developer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8"/>
          <p:cNvSpPr/>
          <p:nvPr/>
        </p:nvSpPr>
        <p:spPr>
          <a:xfrm>
            <a:off x="731520" y="2286000"/>
            <a:ext cx="3657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360°</a:t>
            </a:r>
            <a:endParaRPr lang="en-US" sz="1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9"/>
          <p:cNvSpPr/>
          <p:nvPr/>
        </p:nvSpPr>
        <p:spPr>
          <a:xfrm>
            <a:off x="731520" y="475488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D1FAE5"/>
                </a:solidFill>
                <a:effectLst/>
                <a:uFillTx/>
                <a:latin typeface="Calibri"/>
              </a:rPr>
              <a:t>Crowdfunding Platform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10"/>
          <p:cNvSpPr/>
          <p:nvPr/>
        </p:nvSpPr>
        <p:spPr>
          <a:xfrm>
            <a:off x="11155680" y="640080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1/17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1"/>
          <p:cNvSpPr/>
          <p:nvPr/>
        </p:nvSpPr>
        <p:spPr>
          <a:xfrm>
            <a:off x="0" y="0"/>
            <a:ext cx="12191400" cy="127980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Rectangle 2"/>
          <p:cNvSpPr/>
          <p:nvPr/>
        </p:nvSpPr>
        <p:spPr>
          <a:xfrm>
            <a:off x="0" y="1280160"/>
            <a:ext cx="12191400" cy="5436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TextBox 3"/>
          <p:cNvSpPr/>
          <p:nvPr/>
        </p:nvSpPr>
        <p:spPr>
          <a:xfrm>
            <a:off x="731520" y="274320"/>
            <a:ext cx="10058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The Problem in Nepal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4"/>
          <p:cNvSpPr/>
          <p:nvPr/>
        </p:nvSpPr>
        <p:spPr>
          <a:xfrm>
            <a:off x="731520" y="77724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Why Nepal needs a better crowdfunding platform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Rectangle 5"/>
          <p:cNvSpPr/>
          <p:nvPr/>
        </p:nvSpPr>
        <p:spPr>
          <a:xfrm>
            <a:off x="731520" y="1737360"/>
            <a:ext cx="5120280" cy="182844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Rectangle 6"/>
          <p:cNvSpPr/>
          <p:nvPr/>
        </p:nvSpPr>
        <p:spPr>
          <a:xfrm>
            <a:off x="731520" y="1737360"/>
            <a:ext cx="72720" cy="1828440"/>
          </a:xfrm>
          <a:prstGeom prst="rect">
            <a:avLst/>
          </a:prstGeom>
          <a:solidFill>
            <a:srgbClr val="EF44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Oval 7"/>
          <p:cNvSpPr/>
          <p:nvPr/>
        </p:nvSpPr>
        <p:spPr>
          <a:xfrm>
            <a:off x="1005840" y="2011680"/>
            <a:ext cx="456840" cy="456840"/>
          </a:xfrm>
          <a:prstGeom prst="ellipse">
            <a:avLst/>
          </a:prstGeom>
          <a:solidFill>
            <a:srgbClr val="EF44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!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8"/>
          <p:cNvSpPr/>
          <p:nvPr/>
        </p:nvSpPr>
        <p:spPr>
          <a:xfrm>
            <a:off x="1645920" y="196596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No Organized Platform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9"/>
          <p:cNvSpPr/>
          <p:nvPr/>
        </p:nvSpPr>
        <p:spPr>
          <a:xfrm>
            <a:off x="1645920" y="2423160"/>
            <a:ext cx="38401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Nepal lacks a dedicated, trustworthy crowdfunding infrastructure for social causes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Rectangle 10"/>
          <p:cNvSpPr/>
          <p:nvPr/>
        </p:nvSpPr>
        <p:spPr>
          <a:xfrm>
            <a:off x="6400800" y="1737360"/>
            <a:ext cx="5120280" cy="182844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Rectangle 11"/>
          <p:cNvSpPr/>
          <p:nvPr/>
        </p:nvSpPr>
        <p:spPr>
          <a:xfrm>
            <a:off x="6400800" y="1737360"/>
            <a:ext cx="72720" cy="1828440"/>
          </a:xfrm>
          <a:prstGeom prst="rect">
            <a:avLst/>
          </a:prstGeom>
          <a:solidFill>
            <a:srgbClr val="EF44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Oval 12"/>
          <p:cNvSpPr/>
          <p:nvPr/>
        </p:nvSpPr>
        <p:spPr>
          <a:xfrm>
            <a:off x="6675120" y="2011680"/>
            <a:ext cx="456840" cy="456840"/>
          </a:xfrm>
          <a:prstGeom prst="ellipse">
            <a:avLst/>
          </a:prstGeom>
          <a:solidFill>
            <a:srgbClr val="EF44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!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13"/>
          <p:cNvSpPr/>
          <p:nvPr/>
        </p:nvSpPr>
        <p:spPr>
          <a:xfrm>
            <a:off x="7315200" y="196596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Trust Deficit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14"/>
          <p:cNvSpPr/>
          <p:nvPr/>
        </p:nvSpPr>
        <p:spPr>
          <a:xfrm>
            <a:off x="7315200" y="2423160"/>
            <a:ext cx="38401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Donors are skeptical due to lack of transparency and accountability in charitable giving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Rectangle 15"/>
          <p:cNvSpPr/>
          <p:nvPr/>
        </p:nvSpPr>
        <p:spPr>
          <a:xfrm>
            <a:off x="731520" y="3840480"/>
            <a:ext cx="5120280" cy="182844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Rectangle 16"/>
          <p:cNvSpPr/>
          <p:nvPr/>
        </p:nvSpPr>
        <p:spPr>
          <a:xfrm>
            <a:off x="731520" y="3840480"/>
            <a:ext cx="72720" cy="1828440"/>
          </a:xfrm>
          <a:prstGeom prst="rect">
            <a:avLst/>
          </a:prstGeom>
          <a:solidFill>
            <a:srgbClr val="EF44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" name="Oval 17"/>
          <p:cNvSpPr/>
          <p:nvPr/>
        </p:nvSpPr>
        <p:spPr>
          <a:xfrm>
            <a:off x="1005840" y="4114800"/>
            <a:ext cx="456840" cy="456840"/>
          </a:xfrm>
          <a:prstGeom prst="ellipse">
            <a:avLst/>
          </a:prstGeom>
          <a:solidFill>
            <a:srgbClr val="EF44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!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18"/>
          <p:cNvSpPr/>
          <p:nvPr/>
        </p:nvSpPr>
        <p:spPr>
          <a:xfrm>
            <a:off x="1645920" y="406908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No KYC Verification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19"/>
          <p:cNvSpPr/>
          <p:nvPr/>
        </p:nvSpPr>
        <p:spPr>
          <a:xfrm>
            <a:off x="1645920" y="4526280"/>
            <a:ext cx="38401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Campaign creators are not verified, leading to potential fraud and misuse of funds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Rectangle 20"/>
          <p:cNvSpPr/>
          <p:nvPr/>
        </p:nvSpPr>
        <p:spPr>
          <a:xfrm>
            <a:off x="6400800" y="3840480"/>
            <a:ext cx="5120280" cy="182844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Rectangle 21"/>
          <p:cNvSpPr/>
          <p:nvPr/>
        </p:nvSpPr>
        <p:spPr>
          <a:xfrm>
            <a:off x="6400800" y="3840480"/>
            <a:ext cx="72720" cy="1828440"/>
          </a:xfrm>
          <a:prstGeom prst="rect">
            <a:avLst/>
          </a:prstGeom>
          <a:solidFill>
            <a:srgbClr val="EF44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Oval 22"/>
          <p:cNvSpPr/>
          <p:nvPr/>
        </p:nvSpPr>
        <p:spPr>
          <a:xfrm>
            <a:off x="6675120" y="4114800"/>
            <a:ext cx="456840" cy="456840"/>
          </a:xfrm>
          <a:prstGeom prst="ellipse">
            <a:avLst/>
          </a:prstGeom>
          <a:solidFill>
            <a:srgbClr val="EF44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!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23"/>
          <p:cNvSpPr/>
          <p:nvPr/>
        </p:nvSpPr>
        <p:spPr>
          <a:xfrm>
            <a:off x="7315200" y="406908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Unregulated Sector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24"/>
          <p:cNvSpPr/>
          <p:nvPr/>
        </p:nvSpPr>
        <p:spPr>
          <a:xfrm>
            <a:off x="7315200" y="4526280"/>
            <a:ext cx="38401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Nepal's charity and social funding sector remains largely unregulated and fragmented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25"/>
          <p:cNvSpPr/>
          <p:nvPr/>
        </p:nvSpPr>
        <p:spPr>
          <a:xfrm>
            <a:off x="11155680" y="640080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3/17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1"/>
          <p:cNvSpPr/>
          <p:nvPr/>
        </p:nvSpPr>
        <p:spPr>
          <a:xfrm>
            <a:off x="0" y="0"/>
            <a:ext cx="12191400" cy="127980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Rectangle 2"/>
          <p:cNvSpPr/>
          <p:nvPr/>
        </p:nvSpPr>
        <p:spPr>
          <a:xfrm>
            <a:off x="0" y="1280160"/>
            <a:ext cx="12191400" cy="5436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TextBox 3"/>
          <p:cNvSpPr/>
          <p:nvPr/>
        </p:nvSpPr>
        <p:spPr>
          <a:xfrm>
            <a:off x="731520" y="274320"/>
            <a:ext cx="10058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Impact of the Problem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4"/>
          <p:cNvSpPr/>
          <p:nvPr/>
        </p:nvSpPr>
        <p:spPr>
          <a:xfrm>
            <a:off x="731520" y="77724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What the lack of infrastructure has led to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Rectangle 5"/>
          <p:cNvSpPr/>
          <p:nvPr/>
        </p:nvSpPr>
        <p:spPr>
          <a:xfrm>
            <a:off x="548640" y="1828800"/>
            <a:ext cx="2559960" cy="411444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Rectangle 6"/>
          <p:cNvSpPr/>
          <p:nvPr/>
        </p:nvSpPr>
        <p:spPr>
          <a:xfrm>
            <a:off x="548640" y="1828800"/>
            <a:ext cx="2559960" cy="5436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TextBox 7"/>
          <p:cNvSpPr/>
          <p:nvPr/>
        </p:nvSpPr>
        <p:spPr>
          <a:xfrm>
            <a:off x="548640" y="2103120"/>
            <a:ext cx="25599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600" b="0" u="none" strike="noStrike">
                <a:solidFill>
                  <a:srgbClr val="059669"/>
                </a:solidFill>
                <a:effectLst/>
                <a:uFillTx/>
                <a:latin typeface="Calibri"/>
              </a:rPr>
              <a:t>⚠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8"/>
          <p:cNvSpPr/>
          <p:nvPr/>
        </p:nvSpPr>
        <p:spPr>
          <a:xfrm>
            <a:off x="731520" y="2834640"/>
            <a:ext cx="2194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Fraud &amp; Misuse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9"/>
          <p:cNvSpPr/>
          <p:nvPr/>
        </p:nvSpPr>
        <p:spPr>
          <a:xfrm>
            <a:off x="731520" y="3383280"/>
            <a:ext cx="219420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Donated funds are misused with no accountability, eroding public trust in charitable giving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Rectangle 10"/>
          <p:cNvSpPr/>
          <p:nvPr/>
        </p:nvSpPr>
        <p:spPr>
          <a:xfrm>
            <a:off x="3383280" y="1828800"/>
            <a:ext cx="2559960" cy="411444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Rectangle 11"/>
          <p:cNvSpPr/>
          <p:nvPr/>
        </p:nvSpPr>
        <p:spPr>
          <a:xfrm>
            <a:off x="3383280" y="1828800"/>
            <a:ext cx="2559960" cy="5436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TextBox 12"/>
          <p:cNvSpPr/>
          <p:nvPr/>
        </p:nvSpPr>
        <p:spPr>
          <a:xfrm>
            <a:off x="3383280" y="2103120"/>
            <a:ext cx="25599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600" b="0" u="none" strike="noStrike">
                <a:solidFill>
                  <a:srgbClr val="059669"/>
                </a:solidFill>
                <a:effectLst/>
                <a:uFillTx/>
                <a:latin typeface="Calibri"/>
              </a:rPr>
              <a:t>✖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13"/>
          <p:cNvSpPr/>
          <p:nvPr/>
        </p:nvSpPr>
        <p:spPr>
          <a:xfrm>
            <a:off x="3566160" y="2834640"/>
            <a:ext cx="2194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No Tracking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14"/>
          <p:cNvSpPr/>
          <p:nvPr/>
        </p:nvSpPr>
        <p:spPr>
          <a:xfrm>
            <a:off x="3566160" y="3383280"/>
            <a:ext cx="219420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Donors cannot track where their money goes or see the real impact of their contributions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Rectangle 15"/>
          <p:cNvSpPr/>
          <p:nvPr/>
        </p:nvSpPr>
        <p:spPr>
          <a:xfrm>
            <a:off x="6217920" y="1828800"/>
            <a:ext cx="2559960" cy="411444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Rectangle 16"/>
          <p:cNvSpPr/>
          <p:nvPr/>
        </p:nvSpPr>
        <p:spPr>
          <a:xfrm>
            <a:off x="6217920" y="1828800"/>
            <a:ext cx="2559960" cy="5436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TextBox 17"/>
          <p:cNvSpPr/>
          <p:nvPr/>
        </p:nvSpPr>
        <p:spPr>
          <a:xfrm>
            <a:off x="6217920" y="2103120"/>
            <a:ext cx="25599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600" b="0" u="none" strike="noStrike">
                <a:solidFill>
                  <a:srgbClr val="059669"/>
                </a:solidFill>
                <a:effectLst/>
                <a:uFillTx/>
                <a:latin typeface="Calibri"/>
              </a:rPr>
              <a:t>✉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18"/>
          <p:cNvSpPr/>
          <p:nvPr/>
        </p:nvSpPr>
        <p:spPr>
          <a:xfrm>
            <a:off x="6400800" y="2834640"/>
            <a:ext cx="2194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Hard to Reach Donors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19"/>
          <p:cNvSpPr/>
          <p:nvPr/>
        </p:nvSpPr>
        <p:spPr>
          <a:xfrm>
            <a:off x="6400800" y="3383280"/>
            <a:ext cx="219420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Beneficiaries and cause organizers struggle to connect with potential donors effectively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Rectangle 20"/>
          <p:cNvSpPr/>
          <p:nvPr/>
        </p:nvSpPr>
        <p:spPr>
          <a:xfrm>
            <a:off x="9052560" y="1828800"/>
            <a:ext cx="2559960" cy="411444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Rectangle 21"/>
          <p:cNvSpPr/>
          <p:nvPr/>
        </p:nvSpPr>
        <p:spPr>
          <a:xfrm>
            <a:off x="9052560" y="1828800"/>
            <a:ext cx="2559960" cy="5436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TextBox 22"/>
          <p:cNvSpPr/>
          <p:nvPr/>
        </p:nvSpPr>
        <p:spPr>
          <a:xfrm>
            <a:off x="9052560" y="2103120"/>
            <a:ext cx="25599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600" b="0" u="none" strike="noStrike">
                <a:solidFill>
                  <a:srgbClr val="059669"/>
                </a:solidFill>
                <a:effectLst/>
                <a:uFillTx/>
                <a:latin typeface="Calibri"/>
              </a:rPr>
              <a:t>⌂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23"/>
          <p:cNvSpPr/>
          <p:nvPr/>
        </p:nvSpPr>
        <p:spPr>
          <a:xfrm>
            <a:off x="9235440" y="2834640"/>
            <a:ext cx="2194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Rural Communities Left Behind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24"/>
          <p:cNvSpPr/>
          <p:nvPr/>
        </p:nvSpPr>
        <p:spPr>
          <a:xfrm>
            <a:off x="9235440" y="3383280"/>
            <a:ext cx="219420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Remote and rural communities remain underserved due to lack of digital fundraising access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25"/>
          <p:cNvSpPr/>
          <p:nvPr/>
        </p:nvSpPr>
        <p:spPr>
          <a:xfrm>
            <a:off x="11155680" y="640080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4/17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tangle 1"/>
          <p:cNvSpPr/>
          <p:nvPr/>
        </p:nvSpPr>
        <p:spPr>
          <a:xfrm>
            <a:off x="0" y="0"/>
            <a:ext cx="12191400" cy="127980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Rectangle 2"/>
          <p:cNvSpPr/>
          <p:nvPr/>
        </p:nvSpPr>
        <p:spPr>
          <a:xfrm>
            <a:off x="0" y="1280160"/>
            <a:ext cx="12191400" cy="5436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TextBox 3"/>
          <p:cNvSpPr/>
          <p:nvPr/>
        </p:nvSpPr>
        <p:spPr>
          <a:xfrm>
            <a:off x="731520" y="274320"/>
            <a:ext cx="10058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Our Solution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4"/>
          <p:cNvSpPr/>
          <p:nvPr/>
        </p:nvSpPr>
        <p:spPr>
          <a:xfrm>
            <a:off x="731520" y="77724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How Nepal360 addresses these challenges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Oval 5"/>
          <p:cNvSpPr/>
          <p:nvPr/>
        </p:nvSpPr>
        <p:spPr>
          <a:xfrm>
            <a:off x="731520" y="1737360"/>
            <a:ext cx="548280" cy="548280"/>
          </a:xfrm>
          <a:prstGeom prst="ellipse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✓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6"/>
          <p:cNvSpPr/>
          <p:nvPr/>
        </p:nvSpPr>
        <p:spPr>
          <a:xfrm>
            <a:off x="1645920" y="164592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KYC-Verified Campaigns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7"/>
          <p:cNvSpPr/>
          <p:nvPr/>
        </p:nvSpPr>
        <p:spPr>
          <a:xfrm>
            <a:off x="1645920" y="2057400"/>
            <a:ext cx="9143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Every campaign creator must complete identity verification before launching a campaign, ensuring authenticity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Oval 8"/>
          <p:cNvSpPr/>
          <p:nvPr/>
        </p:nvSpPr>
        <p:spPr>
          <a:xfrm>
            <a:off x="731520" y="2926080"/>
            <a:ext cx="548280" cy="548280"/>
          </a:xfrm>
          <a:prstGeom prst="ellipse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≡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9"/>
          <p:cNvSpPr/>
          <p:nvPr/>
        </p:nvSpPr>
        <p:spPr>
          <a:xfrm>
            <a:off x="1645920" y="283464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Full Transparency &amp; Tracking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10"/>
          <p:cNvSpPr/>
          <p:nvPr/>
        </p:nvSpPr>
        <p:spPr>
          <a:xfrm>
            <a:off x="1645920" y="3246120"/>
            <a:ext cx="9143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Real-time donation tracking, progress bars, donor lists, and detailed financial breakdowns for every campaign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Oval 11"/>
          <p:cNvSpPr/>
          <p:nvPr/>
        </p:nvSpPr>
        <p:spPr>
          <a:xfrm>
            <a:off x="731520" y="4114800"/>
            <a:ext cx="548280" cy="548280"/>
          </a:xfrm>
          <a:prstGeom prst="ellipse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⚙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12"/>
          <p:cNvSpPr/>
          <p:nvPr/>
        </p:nvSpPr>
        <p:spPr>
          <a:xfrm>
            <a:off x="1645920" y="402336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AI-Powered Intelligence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13"/>
          <p:cNvSpPr/>
          <p:nvPr/>
        </p:nvSpPr>
        <p:spPr>
          <a:xfrm>
            <a:off x="1645920" y="4434840"/>
            <a:ext cx="9143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Machine learning predictions for fundraising success, smart campaign recommendations for donors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Oval 14"/>
          <p:cNvSpPr/>
          <p:nvPr/>
        </p:nvSpPr>
        <p:spPr>
          <a:xfrm>
            <a:off x="731520" y="5303520"/>
            <a:ext cx="548280" cy="548280"/>
          </a:xfrm>
          <a:prstGeom prst="ellipse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⌖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15"/>
          <p:cNvSpPr/>
          <p:nvPr/>
        </p:nvSpPr>
        <p:spPr>
          <a:xfrm>
            <a:off x="1645920" y="521208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Map-Based Discovery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16"/>
          <p:cNvSpPr/>
          <p:nvPr/>
        </p:nvSpPr>
        <p:spPr>
          <a:xfrm>
            <a:off x="1645920" y="5623560"/>
            <a:ext cx="9143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Interactive district-level map of Nepal for discovering campaigns by location, making local causes visible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17"/>
          <p:cNvSpPr/>
          <p:nvPr/>
        </p:nvSpPr>
        <p:spPr>
          <a:xfrm>
            <a:off x="11155680" y="640080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5/17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Rectangle 1"/>
          <p:cNvSpPr/>
          <p:nvPr/>
        </p:nvSpPr>
        <p:spPr>
          <a:xfrm>
            <a:off x="0" y="0"/>
            <a:ext cx="12191400" cy="127980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" name="Rectangle 2"/>
          <p:cNvSpPr/>
          <p:nvPr/>
        </p:nvSpPr>
        <p:spPr>
          <a:xfrm>
            <a:off x="0" y="1280160"/>
            <a:ext cx="12191400" cy="5436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TextBox 3"/>
          <p:cNvSpPr/>
          <p:nvPr/>
        </p:nvSpPr>
        <p:spPr>
          <a:xfrm>
            <a:off x="731520" y="274320"/>
            <a:ext cx="10058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Introducing Nepal360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4"/>
          <p:cNvSpPr/>
          <p:nvPr/>
        </p:nvSpPr>
        <p:spPr>
          <a:xfrm>
            <a:off x="731520" y="77724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A comprehensive crowdfunding platform for Nepal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Rectangle 5"/>
          <p:cNvSpPr/>
          <p:nvPr/>
        </p:nvSpPr>
        <p:spPr>
          <a:xfrm>
            <a:off x="548640" y="1737360"/>
            <a:ext cx="2559960" cy="201132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" name="Rectangle 6"/>
          <p:cNvSpPr/>
          <p:nvPr/>
        </p:nvSpPr>
        <p:spPr>
          <a:xfrm>
            <a:off x="548640" y="1737360"/>
            <a:ext cx="2559960" cy="5436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" name="Oval 7"/>
          <p:cNvSpPr/>
          <p:nvPr/>
        </p:nvSpPr>
        <p:spPr>
          <a:xfrm>
            <a:off x="822960" y="1965960"/>
            <a:ext cx="456840" cy="456840"/>
          </a:xfrm>
          <a:prstGeom prst="ellipse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✎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8"/>
          <p:cNvSpPr/>
          <p:nvPr/>
        </p:nvSpPr>
        <p:spPr>
          <a:xfrm>
            <a:off x="731520" y="2514600"/>
            <a:ext cx="2194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Campaign</a:t>
            </a:r>
            <a:br>
              <a:rPr sz="1400"/>
            </a:b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Management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9"/>
          <p:cNvSpPr/>
          <p:nvPr/>
        </p:nvSpPr>
        <p:spPr>
          <a:xfrm>
            <a:off x="731520" y="2834640"/>
            <a:ext cx="2194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Create, manage</a:t>
            </a:r>
            <a:br>
              <a:rPr sz="1100"/>
            </a:b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&amp; track campaigns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Rectangle 10"/>
          <p:cNvSpPr/>
          <p:nvPr/>
        </p:nvSpPr>
        <p:spPr>
          <a:xfrm>
            <a:off x="3383280" y="1737360"/>
            <a:ext cx="2559960" cy="201132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Rectangle 11"/>
          <p:cNvSpPr/>
          <p:nvPr/>
        </p:nvSpPr>
        <p:spPr>
          <a:xfrm>
            <a:off x="3383280" y="1737360"/>
            <a:ext cx="2559960" cy="5436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9" name="Oval 12"/>
          <p:cNvSpPr/>
          <p:nvPr/>
        </p:nvSpPr>
        <p:spPr>
          <a:xfrm>
            <a:off x="3657600" y="1965960"/>
            <a:ext cx="456840" cy="456840"/>
          </a:xfrm>
          <a:prstGeom prst="ellipse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☑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Box 13"/>
          <p:cNvSpPr/>
          <p:nvPr/>
        </p:nvSpPr>
        <p:spPr>
          <a:xfrm>
            <a:off x="3566160" y="2514600"/>
            <a:ext cx="2194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KYC</a:t>
            </a:r>
            <a:br>
              <a:rPr sz="1400"/>
            </a:b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Verification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14"/>
          <p:cNvSpPr/>
          <p:nvPr/>
        </p:nvSpPr>
        <p:spPr>
          <a:xfrm>
            <a:off x="3566160" y="2834640"/>
            <a:ext cx="2194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Identity verified</a:t>
            </a:r>
            <a:br>
              <a:rPr sz="1100"/>
            </a:b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campaign creators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Rectangle 15"/>
          <p:cNvSpPr/>
          <p:nvPr/>
        </p:nvSpPr>
        <p:spPr>
          <a:xfrm>
            <a:off x="6217920" y="1737360"/>
            <a:ext cx="2559960" cy="201132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" name="Rectangle 16"/>
          <p:cNvSpPr/>
          <p:nvPr/>
        </p:nvSpPr>
        <p:spPr>
          <a:xfrm>
            <a:off x="6217920" y="1737360"/>
            <a:ext cx="2559960" cy="5436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Oval 17"/>
          <p:cNvSpPr/>
          <p:nvPr/>
        </p:nvSpPr>
        <p:spPr>
          <a:xfrm>
            <a:off x="6492240" y="1965960"/>
            <a:ext cx="456840" cy="456840"/>
          </a:xfrm>
          <a:prstGeom prst="ellipse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⭐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18"/>
          <p:cNvSpPr/>
          <p:nvPr/>
        </p:nvSpPr>
        <p:spPr>
          <a:xfrm>
            <a:off x="6400800" y="2514600"/>
            <a:ext cx="2194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Khalti</a:t>
            </a:r>
            <a:br>
              <a:rPr sz="1400"/>
            </a:b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Payments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19"/>
          <p:cNvSpPr/>
          <p:nvPr/>
        </p:nvSpPr>
        <p:spPr>
          <a:xfrm>
            <a:off x="6400800" y="2834640"/>
            <a:ext cx="2194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Secure digital</a:t>
            </a:r>
            <a:br>
              <a:rPr sz="1100"/>
            </a:b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payment gateway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Rectangle 20"/>
          <p:cNvSpPr/>
          <p:nvPr/>
        </p:nvSpPr>
        <p:spPr>
          <a:xfrm>
            <a:off x="9052560" y="1737360"/>
            <a:ext cx="2559960" cy="201132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8" name="Rectangle 21"/>
          <p:cNvSpPr/>
          <p:nvPr/>
        </p:nvSpPr>
        <p:spPr>
          <a:xfrm>
            <a:off x="9052560" y="1737360"/>
            <a:ext cx="2559960" cy="5436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" name="Oval 22"/>
          <p:cNvSpPr/>
          <p:nvPr/>
        </p:nvSpPr>
        <p:spPr>
          <a:xfrm>
            <a:off x="9326880" y="1965960"/>
            <a:ext cx="456840" cy="456840"/>
          </a:xfrm>
          <a:prstGeom prst="ellipse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☆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Box 23"/>
          <p:cNvSpPr/>
          <p:nvPr/>
        </p:nvSpPr>
        <p:spPr>
          <a:xfrm>
            <a:off x="9235440" y="2514600"/>
            <a:ext cx="2194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Leaderboards</a:t>
            </a:r>
            <a:br>
              <a:rPr sz="1400"/>
            </a:b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&amp; Badges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24"/>
          <p:cNvSpPr/>
          <p:nvPr/>
        </p:nvSpPr>
        <p:spPr>
          <a:xfrm>
            <a:off x="9235440" y="2834640"/>
            <a:ext cx="2194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Gamified donor</a:t>
            </a:r>
            <a:br>
              <a:rPr sz="1100"/>
            </a:b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engagement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Rectangle 25"/>
          <p:cNvSpPr/>
          <p:nvPr/>
        </p:nvSpPr>
        <p:spPr>
          <a:xfrm>
            <a:off x="548640" y="4114800"/>
            <a:ext cx="2559960" cy="201132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" name="Rectangle 26"/>
          <p:cNvSpPr/>
          <p:nvPr/>
        </p:nvSpPr>
        <p:spPr>
          <a:xfrm>
            <a:off x="548640" y="4114800"/>
            <a:ext cx="2559960" cy="5436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" name="Oval 27"/>
          <p:cNvSpPr/>
          <p:nvPr/>
        </p:nvSpPr>
        <p:spPr>
          <a:xfrm>
            <a:off x="822960" y="4343400"/>
            <a:ext cx="456840" cy="456840"/>
          </a:xfrm>
          <a:prstGeom prst="ellipse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⚙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Box 28"/>
          <p:cNvSpPr/>
          <p:nvPr/>
        </p:nvSpPr>
        <p:spPr>
          <a:xfrm>
            <a:off x="731520" y="4892040"/>
            <a:ext cx="2194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AI</a:t>
            </a:r>
            <a:br>
              <a:rPr sz="1400"/>
            </a:b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Predictions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29"/>
          <p:cNvSpPr/>
          <p:nvPr/>
        </p:nvSpPr>
        <p:spPr>
          <a:xfrm>
            <a:off x="731520" y="5212080"/>
            <a:ext cx="2194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ML-powered funding</a:t>
            </a:r>
            <a:br>
              <a:rPr sz="1100"/>
            </a:b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forecasts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Rectangle 30"/>
          <p:cNvSpPr/>
          <p:nvPr/>
        </p:nvSpPr>
        <p:spPr>
          <a:xfrm>
            <a:off x="3383280" y="4114800"/>
            <a:ext cx="2559960" cy="201132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8" name="Rectangle 31"/>
          <p:cNvSpPr/>
          <p:nvPr/>
        </p:nvSpPr>
        <p:spPr>
          <a:xfrm>
            <a:off x="3383280" y="4114800"/>
            <a:ext cx="2559960" cy="5436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Oval 32"/>
          <p:cNvSpPr/>
          <p:nvPr/>
        </p:nvSpPr>
        <p:spPr>
          <a:xfrm>
            <a:off x="3657600" y="4343400"/>
            <a:ext cx="456840" cy="456840"/>
          </a:xfrm>
          <a:prstGeom prst="ellipse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♪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33"/>
          <p:cNvSpPr/>
          <p:nvPr/>
        </p:nvSpPr>
        <p:spPr>
          <a:xfrm>
            <a:off x="3566160" y="4892040"/>
            <a:ext cx="2194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Real-Time</a:t>
            </a:r>
            <a:br>
              <a:rPr sz="1400"/>
            </a:b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Notifications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34"/>
          <p:cNvSpPr/>
          <p:nvPr/>
        </p:nvSpPr>
        <p:spPr>
          <a:xfrm>
            <a:off x="3566160" y="5212080"/>
            <a:ext cx="2194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Instant updates</a:t>
            </a:r>
            <a:br>
              <a:rPr sz="1100"/>
            </a:b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on campaigns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Rectangle 35"/>
          <p:cNvSpPr/>
          <p:nvPr/>
        </p:nvSpPr>
        <p:spPr>
          <a:xfrm>
            <a:off x="6217920" y="4114800"/>
            <a:ext cx="2559960" cy="201132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3" name="Rectangle 36"/>
          <p:cNvSpPr/>
          <p:nvPr/>
        </p:nvSpPr>
        <p:spPr>
          <a:xfrm>
            <a:off x="6217920" y="4114800"/>
            <a:ext cx="2559960" cy="5436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4" name="Oval 37"/>
          <p:cNvSpPr/>
          <p:nvPr/>
        </p:nvSpPr>
        <p:spPr>
          <a:xfrm>
            <a:off x="6492240" y="4343400"/>
            <a:ext cx="456840" cy="456840"/>
          </a:xfrm>
          <a:prstGeom prst="ellipse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✉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38"/>
          <p:cNvSpPr/>
          <p:nvPr/>
        </p:nvSpPr>
        <p:spPr>
          <a:xfrm>
            <a:off x="6400800" y="4892040"/>
            <a:ext cx="2194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Certificate</a:t>
            </a:r>
            <a:br>
              <a:rPr sz="1400"/>
            </a:b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Generation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39"/>
          <p:cNvSpPr/>
          <p:nvPr/>
        </p:nvSpPr>
        <p:spPr>
          <a:xfrm>
            <a:off x="6400800" y="5212080"/>
            <a:ext cx="2194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Auto-generated</a:t>
            </a:r>
            <a:br>
              <a:rPr sz="1100"/>
            </a:b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donor certificates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Rectangle 40"/>
          <p:cNvSpPr/>
          <p:nvPr/>
        </p:nvSpPr>
        <p:spPr>
          <a:xfrm>
            <a:off x="9052560" y="4114800"/>
            <a:ext cx="2559960" cy="201132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" name="Rectangle 41"/>
          <p:cNvSpPr/>
          <p:nvPr/>
        </p:nvSpPr>
        <p:spPr>
          <a:xfrm>
            <a:off x="9052560" y="4114800"/>
            <a:ext cx="2559960" cy="5436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9" name="Oval 42"/>
          <p:cNvSpPr/>
          <p:nvPr/>
        </p:nvSpPr>
        <p:spPr>
          <a:xfrm>
            <a:off x="9326880" y="4343400"/>
            <a:ext cx="456840" cy="456840"/>
          </a:xfrm>
          <a:prstGeom prst="ellipse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⌖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Box 43"/>
          <p:cNvSpPr/>
          <p:nvPr/>
        </p:nvSpPr>
        <p:spPr>
          <a:xfrm>
            <a:off x="9235440" y="4892040"/>
            <a:ext cx="2194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Interactive</a:t>
            </a:r>
            <a:br>
              <a:rPr sz="1400"/>
            </a:b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Map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44"/>
          <p:cNvSpPr/>
          <p:nvPr/>
        </p:nvSpPr>
        <p:spPr>
          <a:xfrm>
            <a:off x="9235440" y="5212080"/>
            <a:ext cx="2194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District-level</a:t>
            </a:r>
            <a:br>
              <a:rPr sz="1100"/>
            </a:b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campaign discovery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45"/>
          <p:cNvSpPr/>
          <p:nvPr/>
        </p:nvSpPr>
        <p:spPr>
          <a:xfrm>
            <a:off x="11155680" y="640080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6/17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Rectangle 1"/>
          <p:cNvSpPr/>
          <p:nvPr/>
        </p:nvSpPr>
        <p:spPr>
          <a:xfrm>
            <a:off x="0" y="0"/>
            <a:ext cx="12191400" cy="127980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" name="Rectangle 2"/>
          <p:cNvSpPr/>
          <p:nvPr/>
        </p:nvSpPr>
        <p:spPr>
          <a:xfrm>
            <a:off x="0" y="1280160"/>
            <a:ext cx="12191400" cy="5436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5" name="TextBox 3"/>
          <p:cNvSpPr/>
          <p:nvPr/>
        </p:nvSpPr>
        <p:spPr>
          <a:xfrm>
            <a:off x="731520" y="274320"/>
            <a:ext cx="10058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UI Preview — Home Page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4"/>
          <p:cNvSpPr/>
          <p:nvPr/>
        </p:nvSpPr>
        <p:spPr>
          <a:xfrm>
            <a:off x="731520" y="77724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Homepage with featured campaigns, stats, and hero section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Rectangle 5"/>
          <p:cNvSpPr/>
          <p:nvPr/>
        </p:nvSpPr>
        <p:spPr>
          <a:xfrm>
            <a:off x="914400" y="1645920"/>
            <a:ext cx="10332360" cy="4754520"/>
          </a:xfrm>
          <a:prstGeom prst="rect">
            <a:avLst/>
          </a:prstGeom>
          <a:solidFill>
            <a:srgbClr val="F8FAFC"/>
          </a:solidFill>
          <a:ln w="25400">
            <a:solidFill>
              <a:srgbClr val="05966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8" name="TextBox 6"/>
          <p:cNvSpPr/>
          <p:nvPr/>
        </p:nvSpPr>
        <p:spPr>
          <a:xfrm>
            <a:off x="914400" y="3749040"/>
            <a:ext cx="10332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[ Insert Home Page Screenshot Here ]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7"/>
          <p:cNvSpPr/>
          <p:nvPr/>
        </p:nvSpPr>
        <p:spPr>
          <a:xfrm>
            <a:off x="11155680" y="640080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7/17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Rectangle 1"/>
          <p:cNvSpPr/>
          <p:nvPr/>
        </p:nvSpPr>
        <p:spPr>
          <a:xfrm>
            <a:off x="0" y="0"/>
            <a:ext cx="12191400" cy="127980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1" name="Rectangle 2"/>
          <p:cNvSpPr/>
          <p:nvPr/>
        </p:nvSpPr>
        <p:spPr>
          <a:xfrm>
            <a:off x="0" y="1280160"/>
            <a:ext cx="12191400" cy="5436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2" name="TextBox 3"/>
          <p:cNvSpPr/>
          <p:nvPr/>
        </p:nvSpPr>
        <p:spPr>
          <a:xfrm>
            <a:off x="731520" y="274320"/>
            <a:ext cx="10058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UI Preview — Campaign Discovery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4"/>
          <p:cNvSpPr/>
          <p:nvPr/>
        </p:nvSpPr>
        <p:spPr>
          <a:xfrm>
            <a:off x="731520" y="77724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Browse campaigns with filters, search, and map view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Rectangle 5"/>
          <p:cNvSpPr/>
          <p:nvPr/>
        </p:nvSpPr>
        <p:spPr>
          <a:xfrm>
            <a:off x="914400" y="1645920"/>
            <a:ext cx="10332360" cy="4754520"/>
          </a:xfrm>
          <a:prstGeom prst="rect">
            <a:avLst/>
          </a:prstGeom>
          <a:solidFill>
            <a:srgbClr val="F8FAFC"/>
          </a:solidFill>
          <a:ln w="25400">
            <a:solidFill>
              <a:srgbClr val="05966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5" name="TextBox 6"/>
          <p:cNvSpPr/>
          <p:nvPr/>
        </p:nvSpPr>
        <p:spPr>
          <a:xfrm>
            <a:off x="914400" y="3749040"/>
            <a:ext cx="10332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[ Insert Campaign Discovery Screenshot Here ]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Box 7"/>
          <p:cNvSpPr/>
          <p:nvPr/>
        </p:nvSpPr>
        <p:spPr>
          <a:xfrm>
            <a:off x="11155680" y="640080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8/17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Rectangle 1"/>
          <p:cNvSpPr/>
          <p:nvPr/>
        </p:nvSpPr>
        <p:spPr>
          <a:xfrm>
            <a:off x="0" y="0"/>
            <a:ext cx="12191400" cy="127980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8" name="Rectangle 2"/>
          <p:cNvSpPr/>
          <p:nvPr/>
        </p:nvSpPr>
        <p:spPr>
          <a:xfrm>
            <a:off x="0" y="1280160"/>
            <a:ext cx="12191400" cy="5436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9" name="TextBox 3"/>
          <p:cNvSpPr/>
          <p:nvPr/>
        </p:nvSpPr>
        <p:spPr>
          <a:xfrm>
            <a:off x="731520" y="274320"/>
            <a:ext cx="10058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UI Preview — Campaign Detail + Donation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4"/>
          <p:cNvSpPr/>
          <p:nvPr/>
        </p:nvSpPr>
        <p:spPr>
          <a:xfrm>
            <a:off x="731520" y="77724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Campaign details, donation form, progress tracking, and donor list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Rectangle 5"/>
          <p:cNvSpPr/>
          <p:nvPr/>
        </p:nvSpPr>
        <p:spPr>
          <a:xfrm>
            <a:off x="914400" y="1645920"/>
            <a:ext cx="10332360" cy="4754520"/>
          </a:xfrm>
          <a:prstGeom prst="rect">
            <a:avLst/>
          </a:prstGeom>
          <a:solidFill>
            <a:srgbClr val="F8FAFC"/>
          </a:solidFill>
          <a:ln w="25400">
            <a:solidFill>
              <a:srgbClr val="05966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2" name="TextBox 6"/>
          <p:cNvSpPr/>
          <p:nvPr/>
        </p:nvSpPr>
        <p:spPr>
          <a:xfrm>
            <a:off x="914400" y="3749040"/>
            <a:ext cx="10332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[ Insert Campaign Detail + Donation Screenshot Here ]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Box 7"/>
          <p:cNvSpPr/>
          <p:nvPr/>
        </p:nvSpPr>
        <p:spPr>
          <a:xfrm>
            <a:off x="11155680" y="640080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9/17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Rectangle 1"/>
          <p:cNvSpPr/>
          <p:nvPr/>
        </p:nvSpPr>
        <p:spPr>
          <a:xfrm>
            <a:off x="0" y="0"/>
            <a:ext cx="12191400" cy="127980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5" name="Rectangle 2"/>
          <p:cNvSpPr/>
          <p:nvPr/>
        </p:nvSpPr>
        <p:spPr>
          <a:xfrm>
            <a:off x="0" y="1280160"/>
            <a:ext cx="12191400" cy="5436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6" name="TextBox 3"/>
          <p:cNvSpPr/>
          <p:nvPr/>
        </p:nvSpPr>
        <p:spPr>
          <a:xfrm>
            <a:off x="731520" y="274320"/>
            <a:ext cx="10058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UI Preview — Admin Dashboard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Box 4"/>
          <p:cNvSpPr/>
          <p:nvPr/>
        </p:nvSpPr>
        <p:spPr>
          <a:xfrm>
            <a:off x="731520" y="77724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Admin panel with KYC verification, campaign management, and analytics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Rectangle 5"/>
          <p:cNvSpPr/>
          <p:nvPr/>
        </p:nvSpPr>
        <p:spPr>
          <a:xfrm>
            <a:off x="914400" y="1645920"/>
            <a:ext cx="10332360" cy="4754520"/>
          </a:xfrm>
          <a:prstGeom prst="rect">
            <a:avLst/>
          </a:prstGeom>
          <a:solidFill>
            <a:srgbClr val="F8FAFC"/>
          </a:solidFill>
          <a:ln w="25400">
            <a:solidFill>
              <a:srgbClr val="05966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9" name="TextBox 6"/>
          <p:cNvSpPr/>
          <p:nvPr/>
        </p:nvSpPr>
        <p:spPr>
          <a:xfrm>
            <a:off x="914400" y="3749040"/>
            <a:ext cx="10332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[ Insert Admin Dashboard Screenshot Here ]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Box 7"/>
          <p:cNvSpPr/>
          <p:nvPr/>
        </p:nvSpPr>
        <p:spPr>
          <a:xfrm>
            <a:off x="11155680" y="640080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10/17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Rectangle 1"/>
          <p:cNvSpPr/>
          <p:nvPr/>
        </p:nvSpPr>
        <p:spPr>
          <a:xfrm>
            <a:off x="0" y="0"/>
            <a:ext cx="12191400" cy="127980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2" name="Rectangle 2"/>
          <p:cNvSpPr/>
          <p:nvPr/>
        </p:nvSpPr>
        <p:spPr>
          <a:xfrm>
            <a:off x="0" y="1280160"/>
            <a:ext cx="12191400" cy="5436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3" name="TextBox 3"/>
          <p:cNvSpPr/>
          <p:nvPr/>
        </p:nvSpPr>
        <p:spPr>
          <a:xfrm>
            <a:off x="731520" y="274320"/>
            <a:ext cx="10058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Competitor Analysis — Global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Box 4"/>
          <p:cNvSpPr/>
          <p:nvPr/>
        </p:nvSpPr>
        <p:spPr>
          <a:xfrm>
            <a:off x="731520" y="77724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How Nepal360 compares to global platforms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Rectangle 5"/>
          <p:cNvSpPr/>
          <p:nvPr/>
        </p:nvSpPr>
        <p:spPr>
          <a:xfrm>
            <a:off x="457200" y="1645920"/>
            <a:ext cx="3474360" cy="457164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6" name="Rectangle 6"/>
          <p:cNvSpPr/>
          <p:nvPr/>
        </p:nvSpPr>
        <p:spPr>
          <a:xfrm>
            <a:off x="457200" y="1645920"/>
            <a:ext cx="3474360" cy="5436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17" name="Picture 7" descr="gofundme.png"/>
          <p:cNvPicPr/>
          <p:nvPr/>
        </p:nvPicPr>
        <p:blipFill>
          <a:blip r:embed="rId1"/>
          <a:stretch/>
        </p:blipFill>
        <p:spPr>
          <a:xfrm>
            <a:off x="640080" y="1920240"/>
            <a:ext cx="3108600" cy="201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8" name="TextBox 8"/>
          <p:cNvSpPr/>
          <p:nvPr/>
        </p:nvSpPr>
        <p:spPr>
          <a:xfrm>
            <a:off x="640080" y="411480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GoFundMe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Box 9"/>
          <p:cNvSpPr/>
          <p:nvPr/>
        </p:nvSpPr>
        <p:spPr>
          <a:xfrm>
            <a:off x="640080" y="4572000"/>
            <a:ext cx="31086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Global leader in personal fundraising.</a:t>
            </a:r>
            <a:br>
              <a:rPr sz="1300"/>
            </a:b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No Nepal focus, no KYC, high fees.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Rectangle 10"/>
          <p:cNvSpPr/>
          <p:nvPr/>
        </p:nvSpPr>
        <p:spPr>
          <a:xfrm>
            <a:off x="4297680" y="1645920"/>
            <a:ext cx="3474360" cy="457164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1" name="Rectangle 11"/>
          <p:cNvSpPr/>
          <p:nvPr/>
        </p:nvSpPr>
        <p:spPr>
          <a:xfrm>
            <a:off x="4297680" y="1645920"/>
            <a:ext cx="3474360" cy="5436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22" name="Picture 12" descr="globalgiving.png"/>
          <p:cNvPicPr/>
          <p:nvPr/>
        </p:nvPicPr>
        <p:blipFill>
          <a:blip r:embed="rId2"/>
          <a:stretch/>
        </p:blipFill>
        <p:spPr>
          <a:xfrm>
            <a:off x="4480560" y="1920240"/>
            <a:ext cx="3108600" cy="201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3" name="TextBox 13"/>
          <p:cNvSpPr/>
          <p:nvPr/>
        </p:nvSpPr>
        <p:spPr>
          <a:xfrm>
            <a:off x="4480560" y="411480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GlobalGiving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Box 14"/>
          <p:cNvSpPr/>
          <p:nvPr/>
        </p:nvSpPr>
        <p:spPr>
          <a:xfrm>
            <a:off x="4480560" y="4572000"/>
            <a:ext cx="31086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Non-profit focused platform.</a:t>
            </a:r>
            <a:br>
              <a:rPr sz="1300"/>
            </a:b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Limited to vetted organizations only.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Rectangle 15"/>
          <p:cNvSpPr/>
          <p:nvPr/>
        </p:nvSpPr>
        <p:spPr>
          <a:xfrm>
            <a:off x="8138160" y="1645920"/>
            <a:ext cx="3474360" cy="457164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6" name="Rectangle 16"/>
          <p:cNvSpPr/>
          <p:nvPr/>
        </p:nvSpPr>
        <p:spPr>
          <a:xfrm>
            <a:off x="8138160" y="1645920"/>
            <a:ext cx="3474360" cy="5436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27" name="Picture 17" descr="ketto.png"/>
          <p:cNvPicPr/>
          <p:nvPr/>
        </p:nvPicPr>
        <p:blipFill>
          <a:blip r:embed="rId3"/>
          <a:stretch/>
        </p:blipFill>
        <p:spPr>
          <a:xfrm>
            <a:off x="8321040" y="1920240"/>
            <a:ext cx="3108600" cy="201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8" name="TextBox 18"/>
          <p:cNvSpPr/>
          <p:nvPr/>
        </p:nvSpPr>
        <p:spPr>
          <a:xfrm>
            <a:off x="8321040" y="411480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Ketto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Box 19"/>
          <p:cNvSpPr/>
          <p:nvPr/>
        </p:nvSpPr>
        <p:spPr>
          <a:xfrm>
            <a:off x="8321040" y="4572000"/>
            <a:ext cx="31086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India-based crowdfunding.</a:t>
            </a:r>
            <a:br>
              <a:rPr sz="1300"/>
            </a:b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No Nepal presence, no local payments.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Box 20"/>
          <p:cNvSpPr/>
          <p:nvPr/>
        </p:nvSpPr>
        <p:spPr>
          <a:xfrm>
            <a:off x="11155680" y="640080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11/17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Rectangle 1"/>
          <p:cNvSpPr/>
          <p:nvPr/>
        </p:nvSpPr>
        <p:spPr>
          <a:xfrm>
            <a:off x="0" y="0"/>
            <a:ext cx="12191400" cy="127980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2" name="Rectangle 2"/>
          <p:cNvSpPr/>
          <p:nvPr/>
        </p:nvSpPr>
        <p:spPr>
          <a:xfrm>
            <a:off x="0" y="1280160"/>
            <a:ext cx="12191400" cy="5436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3" name="TextBox 3"/>
          <p:cNvSpPr/>
          <p:nvPr/>
        </p:nvSpPr>
        <p:spPr>
          <a:xfrm>
            <a:off x="731520" y="274320"/>
            <a:ext cx="10058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Competitor Analysis — Nepal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Box 4"/>
          <p:cNvSpPr/>
          <p:nvPr/>
        </p:nvSpPr>
        <p:spPr>
          <a:xfrm>
            <a:off x="731520" y="77724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The local competitive landscape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5" name="Picture 5" descr="sahayogihaat.png"/>
          <p:cNvPicPr/>
          <p:nvPr/>
        </p:nvPicPr>
        <p:blipFill>
          <a:blip r:embed="rId1"/>
          <a:stretch/>
        </p:blipFill>
        <p:spPr>
          <a:xfrm>
            <a:off x="731520" y="1737360"/>
            <a:ext cx="4114440" cy="274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6" name="TextBox 6"/>
          <p:cNvSpPr/>
          <p:nvPr/>
        </p:nvSpPr>
        <p:spPr>
          <a:xfrm>
            <a:off x="731520" y="4663440"/>
            <a:ext cx="4114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SahayogiHaat — Only Notable Local Competitor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Box 7"/>
          <p:cNvSpPr/>
          <p:nvPr/>
        </p:nvSpPr>
        <p:spPr>
          <a:xfrm>
            <a:off x="5486400" y="1737360"/>
            <a:ext cx="5943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059669"/>
                </a:solidFill>
                <a:effectLst/>
                <a:uFillTx/>
                <a:latin typeface="Calibri"/>
              </a:rPr>
              <a:t>What they lack (Nepal360 advantages):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Box 8"/>
          <p:cNvSpPr/>
          <p:nvPr/>
        </p:nvSpPr>
        <p:spPr>
          <a:xfrm>
            <a:off x="5486400" y="237744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EF4444"/>
                </a:solidFill>
                <a:effectLst/>
                <a:uFillTx/>
                <a:latin typeface="Calibri"/>
              </a:rPr>
              <a:t>✗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Box 9"/>
          <p:cNvSpPr/>
          <p:nvPr/>
        </p:nvSpPr>
        <p:spPr>
          <a:xfrm>
            <a:off x="5943600" y="237744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No KYC verification system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Box 10"/>
          <p:cNvSpPr/>
          <p:nvPr/>
        </p:nvSpPr>
        <p:spPr>
          <a:xfrm>
            <a:off x="5486400" y="283464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EF4444"/>
                </a:solidFill>
                <a:effectLst/>
                <a:uFillTx/>
                <a:latin typeface="Calibri"/>
              </a:rPr>
              <a:t>✗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Box 11"/>
          <p:cNvSpPr/>
          <p:nvPr/>
        </p:nvSpPr>
        <p:spPr>
          <a:xfrm>
            <a:off x="5943600" y="283464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No AI-powered predictions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Box 12"/>
          <p:cNvSpPr/>
          <p:nvPr/>
        </p:nvSpPr>
        <p:spPr>
          <a:xfrm>
            <a:off x="5486400" y="329184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EF4444"/>
                </a:solidFill>
                <a:effectLst/>
                <a:uFillTx/>
                <a:latin typeface="Calibri"/>
              </a:rPr>
              <a:t>✗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Box 13"/>
          <p:cNvSpPr/>
          <p:nvPr/>
        </p:nvSpPr>
        <p:spPr>
          <a:xfrm>
            <a:off x="5943600" y="329184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No gamification (badges, leaderboards)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Box 14"/>
          <p:cNvSpPr/>
          <p:nvPr/>
        </p:nvSpPr>
        <p:spPr>
          <a:xfrm>
            <a:off x="5486400" y="374904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EF4444"/>
                </a:solidFill>
                <a:effectLst/>
                <a:uFillTx/>
                <a:latin typeface="Calibri"/>
              </a:rPr>
              <a:t>✗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Box 15"/>
          <p:cNvSpPr/>
          <p:nvPr/>
        </p:nvSpPr>
        <p:spPr>
          <a:xfrm>
            <a:off x="5943600" y="374904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No interactive map discovery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Box 16"/>
          <p:cNvSpPr/>
          <p:nvPr/>
        </p:nvSpPr>
        <p:spPr>
          <a:xfrm>
            <a:off x="5486400" y="420624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EF4444"/>
                </a:solidFill>
                <a:effectLst/>
                <a:uFillTx/>
                <a:latin typeface="Calibri"/>
              </a:rPr>
              <a:t>✗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Box 17"/>
          <p:cNvSpPr/>
          <p:nvPr/>
        </p:nvSpPr>
        <p:spPr>
          <a:xfrm>
            <a:off x="5943600" y="420624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No item/in-kind donations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Box 18"/>
          <p:cNvSpPr/>
          <p:nvPr/>
        </p:nvSpPr>
        <p:spPr>
          <a:xfrm>
            <a:off x="5486400" y="466344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EF4444"/>
                </a:solidFill>
                <a:effectLst/>
                <a:uFillTx/>
                <a:latin typeface="Calibri"/>
              </a:rPr>
              <a:t>✗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Box 19"/>
          <p:cNvSpPr/>
          <p:nvPr/>
        </p:nvSpPr>
        <p:spPr>
          <a:xfrm>
            <a:off x="5943600" y="466344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No recurring donation support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Box 20"/>
          <p:cNvSpPr/>
          <p:nvPr/>
        </p:nvSpPr>
        <p:spPr>
          <a:xfrm>
            <a:off x="5486400" y="512064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EF4444"/>
                </a:solidFill>
                <a:effectLst/>
                <a:uFillTx/>
                <a:latin typeface="Calibri"/>
              </a:rPr>
              <a:t>✗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Box 21"/>
          <p:cNvSpPr/>
          <p:nvPr/>
        </p:nvSpPr>
        <p:spPr>
          <a:xfrm>
            <a:off x="5943600" y="512064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No certificate generation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Box 22"/>
          <p:cNvSpPr/>
          <p:nvPr/>
        </p:nvSpPr>
        <p:spPr>
          <a:xfrm>
            <a:off x="5486400" y="557784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EF4444"/>
                </a:solidFill>
                <a:effectLst/>
                <a:uFillTx/>
                <a:latin typeface="Calibri"/>
              </a:rPr>
              <a:t>✗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Box 23"/>
          <p:cNvSpPr/>
          <p:nvPr/>
        </p:nvSpPr>
        <p:spPr>
          <a:xfrm>
            <a:off x="5943600" y="557784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No real-time notifications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Box 24"/>
          <p:cNvSpPr/>
          <p:nvPr/>
        </p:nvSpPr>
        <p:spPr>
          <a:xfrm>
            <a:off x="11155680" y="640080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12/17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Rectangle 1"/>
          <p:cNvSpPr/>
          <p:nvPr/>
        </p:nvSpPr>
        <p:spPr>
          <a:xfrm>
            <a:off x="0" y="0"/>
            <a:ext cx="12191400" cy="127980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6" name="Rectangle 2"/>
          <p:cNvSpPr/>
          <p:nvPr/>
        </p:nvSpPr>
        <p:spPr>
          <a:xfrm>
            <a:off x="0" y="1280160"/>
            <a:ext cx="12191400" cy="5436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7" name="TextBox 3"/>
          <p:cNvSpPr/>
          <p:nvPr/>
        </p:nvSpPr>
        <p:spPr>
          <a:xfrm>
            <a:off x="731520" y="274320"/>
            <a:ext cx="10058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Market Opportunity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Box 4"/>
          <p:cNvSpPr/>
          <p:nvPr/>
        </p:nvSpPr>
        <p:spPr>
          <a:xfrm>
            <a:off x="731520" y="77724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Why now is the right time for Nepal360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Rectangle 5"/>
          <p:cNvSpPr/>
          <p:nvPr/>
        </p:nvSpPr>
        <p:spPr>
          <a:xfrm>
            <a:off x="457200" y="1737360"/>
            <a:ext cx="2651400" cy="320004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0" name="Rectangle 6"/>
          <p:cNvSpPr/>
          <p:nvPr/>
        </p:nvSpPr>
        <p:spPr>
          <a:xfrm>
            <a:off x="457200" y="1737360"/>
            <a:ext cx="2651400" cy="5436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1" name="TextBox 7"/>
          <p:cNvSpPr/>
          <p:nvPr/>
        </p:nvSpPr>
        <p:spPr>
          <a:xfrm>
            <a:off x="457200" y="2011680"/>
            <a:ext cx="26514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200" b="1" u="none" strike="noStrike">
                <a:solidFill>
                  <a:srgbClr val="059669"/>
                </a:solidFill>
                <a:effectLst/>
                <a:uFillTx/>
                <a:latin typeface="Calibri"/>
              </a:rPr>
              <a:t>~27%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Box 8"/>
          <p:cNvSpPr/>
          <p:nvPr/>
        </p:nvSpPr>
        <p:spPr>
          <a:xfrm>
            <a:off x="640080" y="2834640"/>
            <a:ext cx="2285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of GDP from Remittances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Box 9"/>
          <p:cNvSpPr/>
          <p:nvPr/>
        </p:nvSpPr>
        <p:spPr>
          <a:xfrm>
            <a:off x="640080" y="3383280"/>
            <a:ext cx="22856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Nepal has one of the highest</a:t>
            </a:r>
            <a:br>
              <a:rPr sz="1200"/>
            </a:b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remittance-to-GDP ratios globally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Rectangle 10"/>
          <p:cNvSpPr/>
          <p:nvPr/>
        </p:nvSpPr>
        <p:spPr>
          <a:xfrm>
            <a:off x="3383280" y="1737360"/>
            <a:ext cx="2651400" cy="320004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5" name="Rectangle 11"/>
          <p:cNvSpPr/>
          <p:nvPr/>
        </p:nvSpPr>
        <p:spPr>
          <a:xfrm>
            <a:off x="3383280" y="1737360"/>
            <a:ext cx="2651400" cy="5436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6" name="TextBox 12"/>
          <p:cNvSpPr/>
          <p:nvPr/>
        </p:nvSpPr>
        <p:spPr>
          <a:xfrm>
            <a:off x="3383280" y="2011680"/>
            <a:ext cx="26514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200" b="1" u="none" strike="noStrike">
                <a:solidFill>
                  <a:srgbClr val="059669"/>
                </a:solidFill>
                <a:effectLst/>
                <a:uFillTx/>
                <a:latin typeface="Calibri"/>
              </a:rPr>
              <a:t>56%+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Box 13"/>
          <p:cNvSpPr/>
          <p:nvPr/>
        </p:nvSpPr>
        <p:spPr>
          <a:xfrm>
            <a:off x="3566160" y="2834640"/>
            <a:ext cx="2285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Internet Penetration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Box 14"/>
          <p:cNvSpPr/>
          <p:nvPr/>
        </p:nvSpPr>
        <p:spPr>
          <a:xfrm>
            <a:off x="3566160" y="3383280"/>
            <a:ext cx="22856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16.5M internet users with</a:t>
            </a:r>
            <a:br>
              <a:rPr sz="1200"/>
            </a:b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rapidly growing connectivity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Rectangle 15"/>
          <p:cNvSpPr/>
          <p:nvPr/>
        </p:nvSpPr>
        <p:spPr>
          <a:xfrm>
            <a:off x="6309360" y="1737360"/>
            <a:ext cx="2651400" cy="320004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0" name="Rectangle 16"/>
          <p:cNvSpPr/>
          <p:nvPr/>
        </p:nvSpPr>
        <p:spPr>
          <a:xfrm>
            <a:off x="6309360" y="1737360"/>
            <a:ext cx="2651400" cy="5436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1" name="TextBox 17"/>
          <p:cNvSpPr/>
          <p:nvPr/>
        </p:nvSpPr>
        <p:spPr>
          <a:xfrm>
            <a:off x="6309360" y="2011680"/>
            <a:ext cx="26514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200" b="1" u="none" strike="noStrike">
                <a:solidFill>
                  <a:srgbClr val="059669"/>
                </a:solidFill>
                <a:effectLst/>
                <a:uFillTx/>
                <a:latin typeface="Calibri"/>
              </a:rPr>
              <a:t>86%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Box 18"/>
          <p:cNvSpPr/>
          <p:nvPr/>
        </p:nvSpPr>
        <p:spPr>
          <a:xfrm>
            <a:off x="6492240" y="2834640"/>
            <a:ext cx="2285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Wallet-to-Population Ratio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Box 19"/>
          <p:cNvSpPr/>
          <p:nvPr/>
        </p:nvSpPr>
        <p:spPr>
          <a:xfrm>
            <a:off x="6492240" y="3383280"/>
            <a:ext cx="22856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Khalti &amp; eSewa driving</a:t>
            </a:r>
            <a:br>
              <a:rPr sz="1200"/>
            </a:b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massive digital payment adoption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Rectangle 20"/>
          <p:cNvSpPr/>
          <p:nvPr/>
        </p:nvSpPr>
        <p:spPr>
          <a:xfrm>
            <a:off x="9235440" y="1737360"/>
            <a:ext cx="2651400" cy="320004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5" name="Rectangle 21"/>
          <p:cNvSpPr/>
          <p:nvPr/>
        </p:nvSpPr>
        <p:spPr>
          <a:xfrm>
            <a:off x="9235440" y="1737360"/>
            <a:ext cx="2651400" cy="5436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6" name="TextBox 22"/>
          <p:cNvSpPr/>
          <p:nvPr/>
        </p:nvSpPr>
        <p:spPr>
          <a:xfrm>
            <a:off x="9235440" y="2011680"/>
            <a:ext cx="26514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200" b="1" u="none" strike="noStrike">
                <a:solidFill>
                  <a:srgbClr val="059669"/>
                </a:solidFill>
                <a:effectLst/>
                <a:uFillTx/>
                <a:latin typeface="Calibri"/>
              </a:rPr>
              <a:t>12th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Box 23"/>
          <p:cNvSpPr/>
          <p:nvPr/>
        </p:nvSpPr>
        <p:spPr>
          <a:xfrm>
            <a:off x="9418320" y="2834640"/>
            <a:ext cx="2285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Climate Risk Index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Box 24"/>
          <p:cNvSpPr/>
          <p:nvPr/>
        </p:nvSpPr>
        <p:spPr>
          <a:xfrm>
            <a:off x="9418320" y="3383280"/>
            <a:ext cx="22856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Highly vulnerable to floods,</a:t>
            </a:r>
            <a:br>
              <a:rPr sz="1200"/>
            </a:b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landslides &amp; earthquakes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Rectangle 25"/>
          <p:cNvSpPr/>
          <p:nvPr/>
        </p:nvSpPr>
        <p:spPr>
          <a:xfrm>
            <a:off x="457200" y="5303520"/>
            <a:ext cx="11246760" cy="1096920"/>
          </a:xfrm>
          <a:prstGeom prst="rect">
            <a:avLst/>
          </a:prstGeom>
          <a:solidFill>
            <a:srgbClr val="D1FAE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0" name="TextBox 26"/>
          <p:cNvSpPr/>
          <p:nvPr/>
        </p:nvSpPr>
        <p:spPr>
          <a:xfrm>
            <a:off x="731520" y="544068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047857"/>
                </a:solidFill>
                <a:effectLst/>
                <a:uFillTx/>
                <a:latin typeface="Calibri"/>
              </a:rPr>
              <a:t>✶  Nepal's unique combination of high remittance inflow, growing digital payments, and disaster vulnerability creates a massive opportunity for a transparent, trusted crowdfunding platform.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Box 27"/>
          <p:cNvSpPr/>
          <p:nvPr/>
        </p:nvSpPr>
        <p:spPr>
          <a:xfrm>
            <a:off x="11155680" y="640080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13/17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Rectangle 1"/>
          <p:cNvSpPr/>
          <p:nvPr/>
        </p:nvSpPr>
        <p:spPr>
          <a:xfrm>
            <a:off x="0" y="0"/>
            <a:ext cx="12191400" cy="127980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3" name="Rectangle 2"/>
          <p:cNvSpPr/>
          <p:nvPr/>
        </p:nvSpPr>
        <p:spPr>
          <a:xfrm>
            <a:off x="0" y="1280160"/>
            <a:ext cx="12191400" cy="5436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4" name="TextBox 3"/>
          <p:cNvSpPr/>
          <p:nvPr/>
        </p:nvSpPr>
        <p:spPr>
          <a:xfrm>
            <a:off x="731520" y="274320"/>
            <a:ext cx="10058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System Architecture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Box 4"/>
          <p:cNvSpPr/>
          <p:nvPr/>
        </p:nvSpPr>
        <p:spPr>
          <a:xfrm>
            <a:off x="731520" y="77724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Technical overview of the Nepal360 platform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6" name="Picture 5" descr="architecture.png"/>
          <p:cNvPicPr/>
          <p:nvPr/>
        </p:nvPicPr>
        <p:blipFill>
          <a:blip r:embed="rId1"/>
          <a:stretch/>
        </p:blipFill>
        <p:spPr>
          <a:xfrm>
            <a:off x="1371600" y="1645920"/>
            <a:ext cx="9417960" cy="4754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7" name="TextBox 6"/>
          <p:cNvSpPr/>
          <p:nvPr/>
        </p:nvSpPr>
        <p:spPr>
          <a:xfrm>
            <a:off x="11155680" y="640080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14/17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Rectangle 1"/>
          <p:cNvSpPr/>
          <p:nvPr/>
        </p:nvSpPr>
        <p:spPr>
          <a:xfrm>
            <a:off x="0" y="0"/>
            <a:ext cx="12191400" cy="127980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9" name="Rectangle 2"/>
          <p:cNvSpPr/>
          <p:nvPr/>
        </p:nvSpPr>
        <p:spPr>
          <a:xfrm>
            <a:off x="0" y="1280160"/>
            <a:ext cx="12191400" cy="5436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0" name="TextBox 3"/>
          <p:cNvSpPr/>
          <p:nvPr/>
        </p:nvSpPr>
        <p:spPr>
          <a:xfrm>
            <a:off x="731520" y="274320"/>
            <a:ext cx="10058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Revenue Model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Box 4"/>
          <p:cNvSpPr/>
          <p:nvPr/>
        </p:nvSpPr>
        <p:spPr>
          <a:xfrm>
            <a:off x="731520" y="77724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How Nepal360 generates sustainable income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Rectangle 5"/>
          <p:cNvSpPr/>
          <p:nvPr/>
        </p:nvSpPr>
        <p:spPr>
          <a:xfrm>
            <a:off x="548640" y="1737360"/>
            <a:ext cx="5303160" cy="201132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3" name="Rectangle 6"/>
          <p:cNvSpPr/>
          <p:nvPr/>
        </p:nvSpPr>
        <p:spPr>
          <a:xfrm>
            <a:off x="548640" y="1737360"/>
            <a:ext cx="72720" cy="201132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4" name="TextBox 7"/>
          <p:cNvSpPr/>
          <p:nvPr/>
        </p:nvSpPr>
        <p:spPr>
          <a:xfrm>
            <a:off x="822960" y="20116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800" b="0" u="none" strike="noStrike">
                <a:solidFill>
                  <a:srgbClr val="059669"/>
                </a:solidFill>
                <a:effectLst/>
                <a:uFillTx/>
                <a:latin typeface="Calibri"/>
              </a:rPr>
              <a:t>¤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Box 8"/>
          <p:cNvSpPr/>
          <p:nvPr/>
        </p:nvSpPr>
        <p:spPr>
          <a:xfrm>
            <a:off x="1463040" y="1965960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Platform Fee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Box 9"/>
          <p:cNvSpPr/>
          <p:nvPr/>
        </p:nvSpPr>
        <p:spPr>
          <a:xfrm>
            <a:off x="1463040" y="233172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059669"/>
                </a:solidFill>
                <a:effectLst/>
                <a:uFillTx/>
                <a:latin typeface="Calibri"/>
              </a:rPr>
              <a:t>2-5% fee on successful donations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Box 10"/>
          <p:cNvSpPr/>
          <p:nvPr/>
        </p:nvSpPr>
        <p:spPr>
          <a:xfrm>
            <a:off x="1463040" y="2743200"/>
            <a:ext cx="4114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Primary revenue stream. Small, transparent fee applied only when campaigns reach their goals.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Rectangle 11"/>
          <p:cNvSpPr/>
          <p:nvPr/>
        </p:nvSpPr>
        <p:spPr>
          <a:xfrm>
            <a:off x="6217920" y="1737360"/>
            <a:ext cx="5303160" cy="201132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9" name="Rectangle 12"/>
          <p:cNvSpPr/>
          <p:nvPr/>
        </p:nvSpPr>
        <p:spPr>
          <a:xfrm>
            <a:off x="6217920" y="1737360"/>
            <a:ext cx="72720" cy="201132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0" name="TextBox 13"/>
          <p:cNvSpPr/>
          <p:nvPr/>
        </p:nvSpPr>
        <p:spPr>
          <a:xfrm>
            <a:off x="6492240" y="20116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800" b="0" u="none" strike="noStrike">
                <a:solidFill>
                  <a:srgbClr val="059669"/>
                </a:solidFill>
                <a:effectLst/>
                <a:uFillTx/>
                <a:latin typeface="Calibri"/>
              </a:rPr>
              <a:t>★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Box 14"/>
          <p:cNvSpPr/>
          <p:nvPr/>
        </p:nvSpPr>
        <p:spPr>
          <a:xfrm>
            <a:off x="7132320" y="1965960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Premium Features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Box 15"/>
          <p:cNvSpPr/>
          <p:nvPr/>
        </p:nvSpPr>
        <p:spPr>
          <a:xfrm>
            <a:off x="7132320" y="233172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059669"/>
                </a:solidFill>
                <a:effectLst/>
                <a:uFillTx/>
                <a:latin typeface="Calibri"/>
              </a:rPr>
              <a:t>Enhanced campaign tools for creators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Box 16"/>
          <p:cNvSpPr/>
          <p:nvPr/>
        </p:nvSpPr>
        <p:spPr>
          <a:xfrm>
            <a:off x="7132320" y="2743200"/>
            <a:ext cx="4114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Priority placement, advanced analytics, custom branding, and extended campaign durations.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Rectangle 17"/>
          <p:cNvSpPr/>
          <p:nvPr/>
        </p:nvSpPr>
        <p:spPr>
          <a:xfrm>
            <a:off x="548640" y="4023360"/>
            <a:ext cx="5303160" cy="201132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5" name="Rectangle 18"/>
          <p:cNvSpPr/>
          <p:nvPr/>
        </p:nvSpPr>
        <p:spPr>
          <a:xfrm>
            <a:off x="548640" y="4023360"/>
            <a:ext cx="72720" cy="201132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6" name="TextBox 19"/>
          <p:cNvSpPr/>
          <p:nvPr/>
        </p:nvSpPr>
        <p:spPr>
          <a:xfrm>
            <a:off x="822960" y="42976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800" b="0" u="none" strike="noStrike">
                <a:solidFill>
                  <a:srgbClr val="059669"/>
                </a:solidFill>
                <a:effectLst/>
                <a:uFillTx/>
                <a:latin typeface="Calibri"/>
              </a:rPr>
              <a:t>⌂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Box 20"/>
          <p:cNvSpPr/>
          <p:nvPr/>
        </p:nvSpPr>
        <p:spPr>
          <a:xfrm>
            <a:off x="1463040" y="4251960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Corporate Partnerships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Box 21"/>
          <p:cNvSpPr/>
          <p:nvPr/>
        </p:nvSpPr>
        <p:spPr>
          <a:xfrm>
            <a:off x="1463040" y="461772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059669"/>
                </a:solidFill>
                <a:effectLst/>
                <a:uFillTx/>
                <a:latin typeface="Calibri"/>
              </a:rPr>
              <a:t>CSR &amp; corporate matching programs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Box 22"/>
          <p:cNvSpPr/>
          <p:nvPr/>
        </p:nvSpPr>
        <p:spPr>
          <a:xfrm>
            <a:off x="1463040" y="5029200"/>
            <a:ext cx="4114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Partner with businesses for matched donations, corporate-sponsored campaigns, and CSR integration.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Rectangle 23"/>
          <p:cNvSpPr/>
          <p:nvPr/>
        </p:nvSpPr>
        <p:spPr>
          <a:xfrm>
            <a:off x="6217920" y="4023360"/>
            <a:ext cx="5303160" cy="201132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1" name="Rectangle 24"/>
          <p:cNvSpPr/>
          <p:nvPr/>
        </p:nvSpPr>
        <p:spPr>
          <a:xfrm>
            <a:off x="6217920" y="4023360"/>
            <a:ext cx="72720" cy="201132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2" name="TextBox 25"/>
          <p:cNvSpPr/>
          <p:nvPr/>
        </p:nvSpPr>
        <p:spPr>
          <a:xfrm>
            <a:off x="6492240" y="42976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800" b="0" u="none" strike="noStrike">
                <a:solidFill>
                  <a:srgbClr val="059669"/>
                </a:solidFill>
                <a:effectLst/>
                <a:uFillTx/>
                <a:latin typeface="Calibri"/>
              </a:rPr>
              <a:t>☆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Box 26"/>
          <p:cNvSpPr/>
          <p:nvPr/>
        </p:nvSpPr>
        <p:spPr>
          <a:xfrm>
            <a:off x="7132320" y="4251960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Sponsored Campaigns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Box 27"/>
          <p:cNvSpPr/>
          <p:nvPr/>
        </p:nvSpPr>
        <p:spPr>
          <a:xfrm>
            <a:off x="7132320" y="461772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059669"/>
                </a:solidFill>
                <a:effectLst/>
                <a:uFillTx/>
                <a:latin typeface="Calibri"/>
              </a:rPr>
              <a:t>Featured and promoted campaigns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Box 28"/>
          <p:cNvSpPr/>
          <p:nvPr/>
        </p:nvSpPr>
        <p:spPr>
          <a:xfrm>
            <a:off x="7132320" y="5029200"/>
            <a:ext cx="4114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Organizations can sponsor campaign visibility, badges, and featured placement on the platform.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Box 29"/>
          <p:cNvSpPr/>
          <p:nvPr/>
        </p:nvSpPr>
        <p:spPr>
          <a:xfrm>
            <a:off x="11155680" y="640080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15/17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Rectangle 1"/>
          <p:cNvSpPr/>
          <p:nvPr/>
        </p:nvSpPr>
        <p:spPr>
          <a:xfrm>
            <a:off x="0" y="1828800"/>
            <a:ext cx="12191400" cy="3200040"/>
          </a:xfrm>
          <a:prstGeom prst="rect">
            <a:avLst/>
          </a:prstGeom>
          <a:solidFill>
            <a:srgbClr val="0478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8" name="Rectangle 2"/>
          <p:cNvSpPr/>
          <p:nvPr/>
        </p:nvSpPr>
        <p:spPr>
          <a:xfrm>
            <a:off x="0" y="1828800"/>
            <a:ext cx="12191400" cy="5436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9" name="Rectangle 3"/>
          <p:cNvSpPr/>
          <p:nvPr/>
        </p:nvSpPr>
        <p:spPr>
          <a:xfrm>
            <a:off x="0" y="4974480"/>
            <a:ext cx="12191400" cy="5436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0" name="Oval 4"/>
          <p:cNvSpPr/>
          <p:nvPr/>
        </p:nvSpPr>
        <p:spPr>
          <a:xfrm>
            <a:off x="5394960" y="2286000"/>
            <a:ext cx="1371240" cy="1371240"/>
          </a:xfrm>
          <a:prstGeom prst="ellipse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▶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Box 5"/>
          <p:cNvSpPr/>
          <p:nvPr/>
        </p:nvSpPr>
        <p:spPr>
          <a:xfrm>
            <a:off x="0" y="3840480"/>
            <a:ext cx="121914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Live Demo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Box 6"/>
          <p:cNvSpPr/>
          <p:nvPr/>
        </p:nvSpPr>
        <p:spPr>
          <a:xfrm>
            <a:off x="0" y="5303520"/>
            <a:ext cx="12191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Nepal360 Platform Walkthrough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Box 7"/>
          <p:cNvSpPr/>
          <p:nvPr/>
        </p:nvSpPr>
        <p:spPr>
          <a:xfrm>
            <a:off x="11155680" y="640080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16/17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Rectangle 1"/>
          <p:cNvSpPr/>
          <p:nvPr/>
        </p:nvSpPr>
        <p:spPr>
          <a:xfrm>
            <a:off x="0" y="0"/>
            <a:ext cx="136800" cy="685764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5" name="Rectangle 2"/>
          <p:cNvSpPr/>
          <p:nvPr/>
        </p:nvSpPr>
        <p:spPr>
          <a:xfrm>
            <a:off x="12054600" y="0"/>
            <a:ext cx="136800" cy="685764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6" name="TextBox 3"/>
          <p:cNvSpPr/>
          <p:nvPr/>
        </p:nvSpPr>
        <p:spPr>
          <a:xfrm>
            <a:off x="0" y="1371600"/>
            <a:ext cx="121914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6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Thank You!</a:t>
            </a:r>
            <a:endParaRPr lang="en-US" sz="6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Rectangle 4"/>
          <p:cNvSpPr/>
          <p:nvPr/>
        </p:nvSpPr>
        <p:spPr>
          <a:xfrm>
            <a:off x="5029200" y="2560320"/>
            <a:ext cx="2102760" cy="3636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8" name="TextBox 5"/>
          <p:cNvSpPr/>
          <p:nvPr/>
        </p:nvSpPr>
        <p:spPr>
          <a:xfrm>
            <a:off x="0" y="2926080"/>
            <a:ext cx="12191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Nepal360 — Empowering Change Across Nepal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Box 6"/>
          <p:cNvSpPr/>
          <p:nvPr/>
        </p:nvSpPr>
        <p:spPr>
          <a:xfrm>
            <a:off x="0" y="3840480"/>
            <a:ext cx="12191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Nischal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Box 7"/>
          <p:cNvSpPr/>
          <p:nvPr/>
        </p:nvSpPr>
        <p:spPr>
          <a:xfrm>
            <a:off x="0" y="4297680"/>
            <a:ext cx="12191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BCA Student | Itahari Namuna College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Rectangle 8"/>
          <p:cNvSpPr/>
          <p:nvPr/>
        </p:nvSpPr>
        <p:spPr>
          <a:xfrm>
            <a:off x="0" y="5943600"/>
            <a:ext cx="12191400" cy="914040"/>
          </a:xfrm>
          <a:prstGeom prst="rect">
            <a:avLst/>
          </a:prstGeom>
          <a:solidFill>
            <a:srgbClr val="0478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2" name="TextBox 9"/>
          <p:cNvSpPr/>
          <p:nvPr/>
        </p:nvSpPr>
        <p:spPr>
          <a:xfrm>
            <a:off x="0" y="6080760"/>
            <a:ext cx="12191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Questions?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Box 10"/>
          <p:cNvSpPr/>
          <p:nvPr/>
        </p:nvSpPr>
        <p:spPr>
          <a:xfrm>
            <a:off x="11155680" y="640080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17/17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LibreOffice/26.2.0.3$Linux_X86_64 LibreOffice_project/620$Build-3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2026-02-26T13:47:48Z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